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patelaarav112/RailMind_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RAILMIND AI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Block Planning System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maintenance scheduling for Indian Railways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4892040"/>
            <a:ext cx="82296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2368296" y="4892040"/>
            <a:ext cx="320040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2798064" y="4892040"/>
            <a:ext cx="640080" cy="146304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4892040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4892040"/>
            <a:ext cx="365760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RAILWAY  ·  ECR DIVISION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planning is split across four disconnected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299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signal and traction teams plan blocks independently, with no shared view of the schedule.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61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 sections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815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corridor and time slot can be claimed by two departments at once.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13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33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are actioned in the order they're reported, not the order they'll actually fail.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864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disruption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1846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often scheduled without checking real train traffic windows.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1828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AF6E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49440" y="1993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3957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Mgmt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9720" y="1828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AF6E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89720" y="1993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3957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AF6E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949440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TDMS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8130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Dist.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8972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AF6E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89720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38130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2852928"/>
            <a:ext cx="347472" cy="347472"/>
          </a:xfrm>
          <a:prstGeom prst="ellipse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09244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617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lower asset availability and unpredictable train punctuality.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dashboard, unified from TMS / SMMS / TDMS / COA — driven by two real AI engines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777240" cy="777240"/>
          </a:xfrm>
          <a:prstGeom prst="ellipse">
            <a:avLst/>
          </a:prstGeom>
          <a:solidFill>
            <a:srgbClr val="FFEDD5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OR-Tools CP-SAT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CONSTRAINT SOLVER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546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real open defects &amp; assets from the live database — not a fixed script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no-overlap per corridor section automatically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the 00:00–04:00 low-traffic window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department priority and safety constraints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2148840"/>
            <a:ext cx="777240" cy="777240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208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FAILURE MODEL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1546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asset/defect on failure risk from 6 engineered features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maintenance, severity, traffic load, age, season, prior failures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top-risk items as ranked AI recommendations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score with SHAP feature importance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operational data to a conflict-free schedule,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999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· SMMS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TDMS · COA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3364992"/>
            <a:ext cx="457200" cy="502920"/>
          </a:xfrm>
          <a:prstGeom prst="chevron">
            <a:avLst/>
          </a:prstGeom>
          <a:solidFill>
            <a:srgbClr val="F9731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27432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999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XGBoost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3364992"/>
            <a:ext cx="457200" cy="502920"/>
          </a:xfrm>
          <a:prstGeom prst="chevron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274320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03920" y="2999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429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alerts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92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real: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creation is validated server-side against every existing block, sync buttons re-run the model and write results back to the database, and "Accept" on a recommendation actually schedules it.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856232"/>
            <a:ext cx="548640" cy="548640"/>
          </a:xfrm>
          <a:prstGeom prst="ellipse">
            <a:avLst/>
          </a:prstGeom>
          <a:solidFill>
            <a:srgbClr val="FFEDD5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146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Command Center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8036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KPIs computed from the actual database — not mock data.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160020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856232"/>
            <a:ext cx="548640" cy="548640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146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Block Scheduler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8036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runs OR-Tools over the real open-defect backlog.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160020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1856232"/>
            <a:ext cx="548640" cy="548640"/>
          </a:xfrm>
          <a:prstGeom prst="ellipse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9328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5146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Engine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88036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alerts, anomaly log, 30-day health forecast.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3913632"/>
            <a:ext cx="548640" cy="548640"/>
          </a:xfrm>
          <a:prstGeom prst="ellipse">
            <a:avLst/>
          </a:prstGeom>
          <a:solidFill>
            <a:srgbClr val="FFEDD5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96112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5720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Integrity Check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93776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every block; rejects double-bookings server-side.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1688" y="365760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913632"/>
            <a:ext cx="548640" cy="548640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61772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5720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3776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shows exactly why a risk score is high.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3296" y="3657600"/>
            <a:ext cx="349300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9328" y="3913632"/>
            <a:ext cx="548640" cy="548640"/>
          </a:xfrm>
          <a:prstGeom prst="ellipse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3932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▦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45720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93776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weekly/monthly plans with one-click CSV export.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That's Actually Tested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on 400 real samples the XGBoost model never trained on — not a claimed accuracy, a measured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48256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404872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2148840"/>
            <a:ext cx="2048256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52928" y="2404872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32918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65776" y="2148840"/>
            <a:ext cx="2048256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65776" y="2404872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065776" y="32918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78624" y="2148840"/>
            <a:ext cx="2048256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78624" y="2404872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E2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278624" y="32918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91472" y="2148840"/>
            <a:ext cx="2048256" cy="1737360"/>
          </a:xfrm>
          <a:prstGeom prst="roundRect">
            <a:avLst>
              <a:gd name="adj" fmla="val 5263"/>
            </a:avLst>
          </a:prstGeom>
          <a:solidFill>
            <a:srgbClr val="FAF6EA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91472" y="2404872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491472" y="32918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150 trees, depth 4  ·  1,600 train / 400 held-out test samples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on the held-out set  —  True Positive 191 · True Negative 204 · False Positive 2 · False Negative 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ED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1938528"/>
            <a:ext cx="283464" cy="283464"/>
          </a:xfrm>
          <a:prstGeom prst="roundRect">
            <a:avLst>
              <a:gd name="adj" fmla="val 25806"/>
            </a:avLst>
          </a:prstGeom>
          <a:solidFill>
            <a:srgbClr val="C2410C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55448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5468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(ASGI)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1938528"/>
            <a:ext cx="283464" cy="283464"/>
          </a:xfrm>
          <a:prstGeom prst="roundRect">
            <a:avLst>
              <a:gd name="adj" fmla="val 25806"/>
            </a:avLst>
          </a:prstGeom>
          <a:solidFill>
            <a:srgbClr val="1D4ED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55448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Optimization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15468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1938528"/>
            <a:ext cx="283464" cy="283464"/>
          </a:xfrm>
          <a:prstGeom prst="roundRect">
            <a:avLst>
              <a:gd name="adj" fmla="val 25806"/>
            </a:avLst>
          </a:prstGeom>
          <a:solidFill>
            <a:srgbClr val="15803D"/>
          </a:solidFill>
          <a:ln/>
        </p:spPr>
      </p:sp>
      <p:sp>
        <p:nvSpPr>
          <p:cNvPr id="18" name="Shape 16"/>
          <p:cNvSpPr/>
          <p:nvPr/>
        </p:nvSpPr>
        <p:spPr>
          <a:xfrm>
            <a:off x="9006840" y="155448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354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3E8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15468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Netlify-ready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(/api)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config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CORS-secured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35440" y="1938528"/>
            <a:ext cx="283464" cy="283464"/>
          </a:xfrm>
          <a:prstGeom prst="roundRect">
            <a:avLst>
              <a:gd name="adj" fmla="val 25806"/>
            </a:avLst>
          </a:prstGeom>
          <a:solidFill>
            <a:srgbClr val="7E22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scheduling is optimized instead of improvised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availability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manual scheduling baseline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0168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00:00–04:00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concentrated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low-traffic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7376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 blocks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 is cross-checked first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61704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44584" y="2423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→ Proactive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44584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44584" y="4069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flagged before failure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5943600" cy="5943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maintenance to predictive, conflict-free scheduling — built on real optimization and real machine learning.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6035040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1435608" y="6035040"/>
            <a:ext cx="82296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2368296" y="6035040"/>
            <a:ext cx="320040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9" name="Shape 7"/>
          <p:cNvSpPr/>
          <p:nvPr/>
        </p:nvSpPr>
        <p:spPr>
          <a:xfrm>
            <a:off x="2798064" y="6035040"/>
            <a:ext cx="640080" cy="146304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6035040"/>
            <a:ext cx="45720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6035040"/>
            <a:ext cx="365760" cy="14630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12" name="TextBox 11"/>
          <p:cNvSpPr txBox="1"/>
          <p:nvPr/>
        </p:nvSpPr>
        <p:spPr>
          <a:xfrm>
            <a:off x="868680" y="4650000"/>
            <a:ext cx="86868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CBD5E1"/>
                </a:solidFill>
              </a:rPr>
              <a:t>Source code:  </a:t>
            </a:r>
            <a:r>
              <a:rPr sz="1600" b="1" u="sng">
                <a:solidFill>
                  <a:srgbClr val="F97316"/>
                </a:solidFill>
                <a:hlinkClick r:id="rId3"/>
              </a:rPr>
              <a:t>github.com/patelaarav112/RailMind_Ai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2026-09-10T20:00:13Z</dcterms:created>
  <dcterms:modified xsi:type="dcterms:W3CDTF">2026-09-10T20:00:13Z</dcterms:modified>
</cp:coreProperties>
</file>